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731520"/>
            <a:ext cx="3200400" cy="3200400"/>
          </a:xfrm>
          <a:prstGeom prst="ellipse">
            <a:avLst/>
          </a:prstGeom>
          <a:solidFill>
            <a:srgbClr val="0C1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371600"/>
            <a:ext cx="2011680" cy="2011680"/>
          </a:xfrm>
          <a:prstGeom prst="ellipse">
            <a:avLst/>
          </a:prstGeom>
          <a:solidFill>
            <a:srgbClr val="0F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114800"/>
            <a:ext cx="1828800" cy="1828800"/>
          </a:xfrm>
          <a:prstGeom prst="ellipse">
            <a:avLst/>
          </a:prstGeom>
          <a:solidFill>
            <a:srgbClr val="0B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45720" cy="292608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F0F0"/>
                </a:solidFill>
                <a:latin typeface="Georgia"/>
              </a:defRPr>
            </a:pPr>
            <a:r>
              <a:t>AlgoFlow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CAA5"/>
                </a:solidFill>
                <a:latin typeface="Georgia"/>
              </a:defRPr>
            </a:pPr>
            <a:r>
              <a:t>Real-Time Programmable Payroll Streaming on Algorand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73"/>
                </a:solidFill>
                <a:latin typeface="Avenir Next"/>
              </a:defRPr>
            </a:pPr>
            <a:r>
              <a:t>Stream salaries every second. Withdraw anytime. Trustless, transparent, on-chain.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663440"/>
            <a:ext cx="1816100" cy="274320"/>
          </a:xfrm>
          <a:prstGeom prst="roundRect">
            <a:avLst/>
          </a:prstGeom>
          <a:solidFill>
            <a:srgbClr val="137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0F0F0"/>
                </a:solidFill>
                <a:latin typeface="Avenir Next"/>
              </a:defRPr>
            </a:pPr>
            <a:r>
              <a:t>Algorand Blockchain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663440"/>
            <a:ext cx="1894840" cy="274320"/>
          </a:xfrm>
          <a:prstGeom prst="roundRect">
            <a:avLst/>
          </a:prstGeom>
          <a:solidFill>
            <a:srgbClr val="0D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0F0F0"/>
                </a:solidFill>
                <a:latin typeface="Avenir Next"/>
              </a:defRPr>
            </a:pPr>
            <a:r>
              <a:t>ARC4 Smart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4663440"/>
            <a:ext cx="1973580" cy="274320"/>
          </a:xfrm>
          <a:prstGeom prst="roundRect">
            <a:avLst/>
          </a:prstGeom>
          <a:solidFill>
            <a:srgbClr val="22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0F0F0"/>
                </a:solidFill>
                <a:latin typeface="Avenir Next"/>
              </a:defRPr>
            </a:pPr>
            <a:r>
              <a:t>React 19 + 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663440"/>
            <a:ext cx="1737360" cy="274320"/>
          </a:xfrm>
          <a:prstGeom prst="roundRect">
            <a:avLst/>
          </a:prstGeom>
          <a:solidFill>
            <a:srgbClr val="1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0F0F0"/>
                </a:solidFill>
                <a:latin typeface="Avenir Next"/>
              </a:defRPr>
            </a:pPr>
            <a:r>
              <a:t>60fps Streaming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73"/>
                </a:solidFill>
                <a:latin typeface="Avenir Next"/>
              </a:defRPr>
            </a:pPr>
            <a:r>
              <a:t>Pranay Vaddanam   |   Infinova Hackathon 2026   |   Blockchain with Algorand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25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5F6C"/>
                </a:solidFill>
                <a:latin typeface="Avenir Next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  <a:latin typeface="Georgia"/>
              </a:defRPr>
            </a:pPr>
            <a:r>
              <a:t>Payroll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73"/>
                </a:solidFill>
                <a:latin typeface="Avenir Next"/>
              </a:defRPr>
            </a:pPr>
            <a:r>
              <a:t>Slow, opaque, and built for a world before the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347472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" cy="3474720"/>
          </a:xfrm>
          <a:prstGeom prst="rect">
            <a:avLst/>
          </a:prstGeom>
          <a:solidFill>
            <a:srgbClr val="F25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30-day payment lag — work today, get paid next month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Zero visibility into earnings until payday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Trust dependency on employers, banks, processors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Cross-border wires cost $25–50, take 3–5 days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No programmability — no per-second accrual or instant bonuses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03520" cy="347472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45720" cy="3474720"/>
          </a:xfrm>
          <a:prstGeom prst="rect">
            <a:avLst/>
          </a:prstGeom>
          <a:solidFill>
            <a:srgbClr val="F25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Overpayment risk when employees quit mid-cycle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Existing crypto solutions are Ethereum-only: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  Sablier / Superfluid cost $15,000+/month for gas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  12.8 min finality, variable fees, token wrapping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F25F6C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No solution exists on Algorand — until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D1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DCAA5"/>
                </a:solidFill>
                <a:latin typeface="Menlo"/>
              </a:defRPr>
            </a:pPr>
            <a:r>
              <a:t>1.57B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73"/>
                </a:solidFill>
                <a:latin typeface="Avenir Next"/>
              </a:defRPr>
            </a:pPr>
            <a:r>
              <a:t>gig workers globally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DCAA5"/>
                </a:solidFill>
                <a:latin typeface="Menlo"/>
              </a:defRPr>
            </a:pPr>
            <a:r>
              <a:t>70%+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6309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73"/>
                </a:solidFill>
                <a:latin typeface="Avenir Next"/>
              </a:defRPr>
            </a:pPr>
            <a:r>
              <a:t>of Web3 hires are contractors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DCAA5"/>
                </a:solidFill>
                <a:latin typeface="Menlo"/>
              </a:defRPr>
            </a:pPr>
            <a:r>
              <a:t>$400B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309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73"/>
                </a:solidFill>
                <a:latin typeface="Avenir Next"/>
              </a:defRPr>
            </a:pPr>
            <a:r>
              <a:t>stablecoin payments in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806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DCAA5"/>
                </a:solidFill>
                <a:latin typeface="Menlo"/>
              </a:defRPr>
            </a:pPr>
            <a: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6309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73"/>
                </a:solidFill>
                <a:latin typeface="Avenir Next"/>
              </a:defRPr>
            </a:pPr>
            <a:r>
              <a:t>streaming payroll on Algorand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CAA5"/>
                </a:solidFill>
                <a:latin typeface="Avenir Next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  <a:latin typeface="Georgia"/>
              </a:defRPr>
            </a:pPr>
            <a:r>
              <a:t>Salary That Streams Like Music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256032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E4A"/>
                </a:solidFill>
                <a:latin typeface="Menl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Georgia"/>
              </a:defRPr>
            </a:pPr>
            <a:r>
              <a:t>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AAAA"/>
                </a:solidFill>
                <a:latin typeface="Avenir Next"/>
              </a:defRPr>
            </a:pPr>
            <a:r>
              <a:t>Employer deposits PAYUSD</a:t>
            </a:r>
            <a:br/>
            <a:r>
              <a:t>tokens into the smart contract.</a:t>
            </a:r>
            <a:br/>
            <a:r>
              <a:t>One transaction. Instant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256032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DCAA5"/>
                </a:solidFill>
                <a:latin typeface="Menl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Georgia"/>
              </a:defRPr>
            </a:pPr>
            <a:r>
              <a:t>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AAAA"/>
                </a:solidFill>
                <a:latin typeface="Avenir Next"/>
              </a:defRPr>
            </a:pPr>
            <a:r>
              <a:t>Salary accrues every second:</a:t>
            </a:r>
            <a:br/>
            <a:r>
              <a:t>rate × elapsed / 3600</a:t>
            </a:r>
            <a:br/>
            <a:r>
              <a:t>Pure math. Zero gas per tick.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20440" cy="256032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2A8"/>
                </a:solidFill>
                <a:latin typeface="Menl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Georgia"/>
              </a:defRPr>
            </a:pPr>
            <a:r>
              <a:t>Withdraw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63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AAAA"/>
                </a:solidFill>
                <a:latin typeface="Avenir Next"/>
              </a:defRPr>
            </a:pPr>
            <a:r>
              <a:t>Employee clicks withdraw.</a:t>
            </a:r>
            <a:br/>
            <a:r>
              <a:t>Contract computes &amp; sends tokens.</a:t>
            </a:r>
            <a:br/>
            <a:r>
              <a:t>~3.3 second settlement.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09160"/>
            <a:ext cx="11064240" cy="27432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CAA5"/>
                </a:solidFill>
                <a:latin typeface="Avenir Next"/>
              </a:defRPr>
            </a:pPr>
            <a:r>
              <a:t>WHY ALGORAND?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DCAA5"/>
                </a:solidFill>
                <a:latin typeface="Menlo"/>
              </a:rPr>
              <a:t>$0.001</a:t>
            </a:r>
            <a:r>
              <a:rPr sz="1200" b="0">
                <a:solidFill>
                  <a:srgbClr val="6B7B73"/>
                </a:solidFill>
                <a:latin typeface="Avenir Next"/>
              </a:rPr>
              <a:t>  fixed tx fees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DCAA5"/>
                </a:solidFill>
                <a:latin typeface="Menlo"/>
              </a:rPr>
              <a:t>3.3s</a:t>
            </a:r>
            <a:r>
              <a:rPr sz="1200" b="0">
                <a:solidFill>
                  <a:srgbClr val="6B7B73"/>
                </a:solidFill>
                <a:latin typeface="Avenir Next"/>
              </a:rPr>
              <a:t>  instant finality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DCAA5"/>
                </a:solidFill>
                <a:latin typeface="Menlo"/>
              </a:rPr>
              <a:t>Native ASAs</a:t>
            </a:r>
            <a:r>
              <a:rPr sz="1200" b="0">
                <a:solidFill>
                  <a:srgbClr val="6B7B73"/>
                </a:solidFill>
                <a:latin typeface="Avenir Next"/>
              </a:rPr>
              <a:t>  no token wrapping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DCAA5"/>
                </a:solidFill>
                <a:latin typeface="Menlo"/>
              </a:rPr>
              <a:t>~$3/mo</a:t>
            </a:r>
            <a:r>
              <a:rPr sz="1200" b="0">
                <a:solidFill>
                  <a:srgbClr val="6B7B73"/>
                </a:solidFill>
                <a:latin typeface="Avenir Next"/>
              </a:rPr>
              <a:t>  for 100 employees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E4A"/>
                </a:solidFill>
                <a:latin typeface="Avenir Next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  <a:latin typeface="Georgia"/>
              </a:defRPr>
            </a:pPr>
            <a:r>
              <a:t>What We Built —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611880" cy="466344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11880" cy="3657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DCAA5"/>
                </a:solidFill>
                <a:latin typeface="Georgia"/>
              </a:defRPr>
            </a:pPr>
            <a:r>
              <a:t>Smart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200">
                <a:solidFill>
                  <a:srgbClr val="5DCAA5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14 ABI methods in Algorand Python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5DCAA5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429 lines of production code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5DCAA5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Continuous streaming + bonus payments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5DCAA5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Pause / resume / update rates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5DCAA5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Emergency pause-all + drain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5DCAA5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Auth checks on every method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5DCAA5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Overdraft protection built-in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611880" cy="466344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611880" cy="36576"/>
          </a:xfrm>
          <a:prstGeom prst="rect">
            <a:avLst/>
          </a:prstGeom>
          <a:solidFill>
            <a:srgbClr val="1A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9E4A"/>
                </a:solidFill>
                <a:latin typeface="Georgia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200">
                <a:solidFill>
                  <a:srgbClr val="1A9E4A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React 19 + TypeScript + Vite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1A9E4A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15 components, 3 custom hooks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1A9E4A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60fps real-time streaming counter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1A9E4A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Employer + Employee dashboards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1A9E4A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Pera Wallet via WalletConnect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1A9E4A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Three.js 3D animated background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1A9E4A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Glassmorphism + spotlight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611880" cy="466344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91640"/>
            <a:ext cx="3611880" cy="365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2A8"/>
                </a:solidFill>
                <a:latin typeface="Georgia"/>
              </a:defRPr>
            </a:pPr>
            <a:r>
              <a:t>Testing &amp;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200">
                <a:solidFill>
                  <a:srgbClr val="00C2A8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37 tests (33 unit + 4 integration)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00C2A8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Tests on real Algorand LocalNet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00C2A8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Single-command deploy script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00C2A8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Testnet deployed &amp; verified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00C2A8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Live demo script (9-step flow)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00C2A8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10 on-chain state fields</a:t>
            </a:r>
          </a:p>
          <a:p>
            <a:pPr>
              <a:spcAft>
                <a:spcPts val="660"/>
              </a:spcAft>
            </a:pPr>
            <a:r>
              <a:rPr sz="1200">
                <a:solidFill>
                  <a:srgbClr val="00C2A8"/>
                </a:solidFill>
                <a:latin typeface="Avenir Next"/>
              </a:rPr>
              <a:t>  </a:t>
            </a:r>
            <a:r>
              <a:rPr sz="1200">
                <a:solidFill>
                  <a:srgbClr val="AAAAAA"/>
                </a:solidFill>
                <a:latin typeface="Avenir Next"/>
              </a:rPr>
              <a:t>4 sprints, 22 user stories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CAA5"/>
                </a:solidFill>
                <a:latin typeface="Avenir Next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  <a:latin typeface="Georgia"/>
              </a:defRPr>
            </a:pPr>
            <a:r>
              <a:t>The Future of Payroll is Programmable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86400" cy="347472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5720" cy="347472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CAA5"/>
                </a:solidFill>
                <a:latin typeface="Avenir Next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70"/>
              </a:spcAft>
            </a:pPr>
            <a:r>
              <a:rPr sz="1400">
                <a:solidFill>
                  <a:srgbClr val="5DCAA5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First payroll streaming protocol on Algorand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5DCAA5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5000x cheaper than Ethereum alternatives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5DCAA5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Every payment is an immutable on-chain event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5DCAA5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Wage theft becomes provably detectable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5DCAA5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Built for DAOs, remote teams, and gig workers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486400" cy="3474720"/>
          </a:xfrm>
          <a:prstGeom prst="roundRect">
            <a:avLst/>
          </a:prstGeom>
          <a:solidFill>
            <a:srgbClr val="111915"/>
          </a:solidFill>
          <a:ln w="9525">
            <a:solidFill>
              <a:srgbClr val="1C2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45720" cy="3474720"/>
          </a:xfrm>
          <a:prstGeom prst="rect">
            <a:avLst/>
          </a:prstGeom>
          <a:solidFill>
            <a:srgbClr val="1A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E4A"/>
                </a:solidFill>
                <a:latin typeface="Avenir Next"/>
              </a:defRPr>
            </a:pPr>
            <a: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70"/>
              </a:spcAft>
            </a:pPr>
            <a:r>
              <a:rPr sz="1400">
                <a:solidFill>
                  <a:srgbClr val="1A9E4A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Multi-asset payroll (PAYUSD + ALGO + custom)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1A9E4A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DAO treasury integration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1A9E4A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Automatic tax withholding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1A9E4A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Payroll analytics dashboards</a:t>
            </a:r>
          </a:p>
          <a:p>
            <a:pPr>
              <a:spcAft>
                <a:spcPts val="770"/>
              </a:spcAft>
            </a:pPr>
            <a:r>
              <a:rPr sz="1400">
                <a:solidFill>
                  <a:srgbClr val="1A9E4A"/>
                </a:solidFill>
                <a:latin typeface="Avenir Next"/>
              </a:rPr>
              <a:t>  </a:t>
            </a:r>
            <a:r>
              <a:rPr sz="1400">
                <a:solidFill>
                  <a:srgbClr val="AAAAAA"/>
                </a:solidFill>
                <a:latin typeface="Avenir Next"/>
              </a:rPr>
              <a:t>Mobile app with Pera Wallet deep linking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D1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623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5DCAA5"/>
                </a:solidFill>
                <a:latin typeface="Georgia"/>
              </a:defRPr>
            </a:pPr>
            <a:r>
              <a:t>“Payday should be every second.”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73"/>
                </a:solidFill>
                <a:latin typeface="Avenir Next"/>
              </a:defRPr>
            </a:pPr>
            <a:r>
              <a:t>Pranay Vaddanam   |   AlgoFlow   |   Infinova Hackathon 2026   |   algoflow.today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